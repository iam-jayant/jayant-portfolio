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 Bold" charset="1" panose="020B0800040000020004"/>
      <p:regular r:id="rId19"/>
    </p:embeddedFont>
    <p:embeddedFont>
      <p:font typeface="Helvetica World" charset="1" panose="020B0500040000020004"/>
      <p:regular r:id="rId20"/>
    </p:embeddedFont>
    <p:embeddedFont>
      <p:font typeface="Marykate" charset="1" panose="00000000000000000000"/>
      <p:regular r:id="rId28"/>
    </p:embeddedFont>
    <p:embeddedFont>
      <p:font typeface="Lato Bold" charset="1" panose="020F0502020204030203"/>
      <p:regular r:id="rId30"/>
    </p:embeddedFont>
    <p:embeddedFont>
      <p:font typeface="Montserrat Bold" charset="1" panose="000008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10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.png" Type="http://schemas.openxmlformats.org/officeDocument/2006/relationships/image"/><Relationship Id="rId6" Target="../media/image3.jpe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9.png" Type="http://schemas.openxmlformats.org/officeDocument/2006/relationships/image"/><Relationship Id="rId7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jpe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2.png" Type="http://schemas.openxmlformats.org/officeDocument/2006/relationships/image"/><Relationship Id="rId6" Target="../media/image10.png" Type="http://schemas.openxmlformats.org/officeDocument/2006/relationships/image"/><Relationship Id="rId7" Target="../embeddings/oleObject1.bin" Type="http://schemas.openxmlformats.org/officeDocument/2006/relationships/oleObject"/><Relationship Id="rId8" Target="../media/image11.png" Type="http://schemas.openxmlformats.org/officeDocument/2006/relationships/image"/><Relationship Id="rId9" Target="../embeddings/oleObject2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16.jpeg" Type="http://schemas.openxmlformats.org/officeDocument/2006/relationships/image"/><Relationship Id="rId12" Target="../media/image17.jpeg" Type="http://schemas.openxmlformats.org/officeDocument/2006/relationships/image"/><Relationship Id="rId13" Target="../media/image18.jpe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2.png" Type="http://schemas.openxmlformats.org/officeDocument/2006/relationships/image"/><Relationship Id="rId6" Target="../media/image3.jpeg" Type="http://schemas.openxmlformats.org/officeDocument/2006/relationships/image"/><Relationship Id="rId7" Target="../media/image12.jpeg" Type="http://schemas.openxmlformats.org/officeDocument/2006/relationships/image"/><Relationship Id="rId8" Target="../media/image13.jpe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2.png" Type="http://schemas.openxmlformats.org/officeDocument/2006/relationships/image"/><Relationship Id="rId6" Target="../media/image3.jpe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24.png" Type="http://schemas.openxmlformats.org/officeDocument/2006/relationships/image"/><Relationship Id="rId6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9003"/>
            <a:ext cx="1430245" cy="10424055"/>
            <a:chOff x="0" y="0"/>
            <a:chExt cx="1906994" cy="13898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7032" cy="13898753"/>
            </a:xfrm>
            <a:custGeom>
              <a:avLst/>
              <a:gdLst/>
              <a:ahLst/>
              <a:cxnLst/>
              <a:rect r="r" b="b" t="t" l="l"/>
              <a:pathLst>
                <a:path h="13898753" w="1907032">
                  <a:moveTo>
                    <a:pt x="0" y="0"/>
                  </a:moveTo>
                  <a:lnTo>
                    <a:pt x="1907032" y="0"/>
                  </a:lnTo>
                  <a:lnTo>
                    <a:pt x="1907032" y="13898753"/>
                  </a:lnTo>
                  <a:lnTo>
                    <a:pt x="0" y="13898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45508" y="198177"/>
            <a:ext cx="13869495" cy="216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 u="sng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Department of Mechanical Engineering</a:t>
            </a:r>
          </a:p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Six-Month Industry Internship Seminar-I</a:t>
            </a:r>
          </a:p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Session: 2026-2027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30245" y="9229087"/>
            <a:ext cx="16951957" cy="1057913"/>
            <a:chOff x="0" y="0"/>
            <a:chExt cx="22602609" cy="14105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02571" cy="1410589"/>
            </a:xfrm>
            <a:custGeom>
              <a:avLst/>
              <a:gdLst/>
              <a:ahLst/>
              <a:cxnLst/>
              <a:rect r="r" b="b" t="t" l="l"/>
              <a:pathLst>
                <a:path h="1410589" w="22602571">
                  <a:moveTo>
                    <a:pt x="0" y="0"/>
                  </a:moveTo>
                  <a:lnTo>
                    <a:pt x="22602571" y="0"/>
                  </a:lnTo>
                  <a:lnTo>
                    <a:pt x="22602571" y="1410589"/>
                  </a:lnTo>
                  <a:lnTo>
                    <a:pt x="0" y="1410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5" t="0" r="-155" b="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095733" y="0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5"/>
                </a:lnTo>
                <a:lnTo>
                  <a:pt x="0" y="13428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511" t="-53828" r="-15513" b="-4520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32085" y="2135562"/>
            <a:ext cx="301951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Date:18/08/2026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195" y="3341116"/>
            <a:ext cx="15401610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</a:pPr>
            <a:r>
              <a:rPr lang="en-US" sz="39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Industry Name: Lemken India Agro Equipment Pvt Ltd</a:t>
            </a:r>
          </a:p>
          <a:p>
            <a:pPr algn="ctr">
              <a:lnSpc>
                <a:spcPts val="3159"/>
              </a:lnSpc>
            </a:pPr>
          </a:p>
          <a:p>
            <a:pPr algn="ctr">
              <a:lnSpc>
                <a:spcPts val="3160"/>
              </a:lnSpc>
            </a:pPr>
            <a:r>
              <a:rPr lang="en-US" sz="4000" b="true">
                <a:solidFill>
                  <a:srgbClr val="63388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Project: Industrial Energy Monitoring &amp; Analytics System</a:t>
            </a:r>
            <a:r>
              <a:rPr lang="en-US" sz="4000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4000" b="true">
                <a:solidFill>
                  <a:srgbClr val="63388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(IIOT)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123" y="5522976"/>
            <a:ext cx="7205491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Presented By:</a:t>
            </a: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Name: Jayant Subhash Kurekar</a:t>
            </a: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Roll No. : 20</a:t>
            </a: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Section: A</a:t>
            </a: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Department: Mechanical Engineering</a:t>
            </a:r>
          </a:p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Batch: A5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1511" y="5650675"/>
            <a:ext cx="5973499" cy="228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Guide Name: Dr. Rupesh Shelke</a:t>
            </a:r>
          </a:p>
          <a:p>
            <a:pPr algn="l">
              <a:lnSpc>
                <a:spcPts val="3406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Designation: Head Of Department, Mechanical Engineering</a:t>
            </a:r>
          </a:p>
          <a:p>
            <a:pPr algn="l">
              <a:lnSpc>
                <a:spcPts val="3406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GHRCE, Nagpur </a:t>
            </a:r>
          </a:p>
          <a:p>
            <a:pPr algn="l">
              <a:lnSpc>
                <a:spcPts val="340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234693" y="5680710"/>
            <a:ext cx="4523916" cy="2237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Industry Guide: </a:t>
            </a:r>
          </a:p>
          <a:p>
            <a:pPr algn="l">
              <a:lnSpc>
                <a:spcPts val="3354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Mr. Nishant Ganorkar</a:t>
            </a:r>
          </a:p>
          <a:p>
            <a:pPr algn="l">
              <a:lnSpc>
                <a:spcPts val="3354"/>
              </a:lnSpc>
            </a:pPr>
            <a:r>
              <a:rPr lang="en-US" sz="26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Designation: Plant Maintenance Head</a:t>
            </a:r>
          </a:p>
          <a:p>
            <a:pPr algn="l">
              <a:lnSpc>
                <a:spcPts val="3354"/>
              </a:lnSpc>
            </a:pPr>
          </a:p>
        </p:txBody>
      </p:sp>
      <p:sp>
        <p:nvSpPr>
          <p:cNvPr name="AutoShape 13" id="13"/>
          <p:cNvSpPr/>
          <p:nvPr/>
        </p:nvSpPr>
        <p:spPr>
          <a:xfrm>
            <a:off x="6760036" y="5949769"/>
            <a:ext cx="0" cy="17181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2866885" y="5949769"/>
            <a:ext cx="0" cy="17181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76564" y="13218"/>
            <a:ext cx="10934871" cy="1523400"/>
            <a:chOff x="0" y="0"/>
            <a:chExt cx="14579829" cy="203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829" cy="2031200"/>
            </a:xfrm>
            <a:custGeom>
              <a:avLst/>
              <a:gdLst/>
              <a:ahLst/>
              <a:cxnLst/>
              <a:rect r="r" b="b" t="t" l="l"/>
              <a:pathLst>
                <a:path h="2031200" w="14579829">
                  <a:moveTo>
                    <a:pt x="0" y="0"/>
                  </a:moveTo>
                  <a:lnTo>
                    <a:pt x="14579829" y="0"/>
                  </a:lnTo>
                  <a:lnTo>
                    <a:pt x="14579829" y="2031200"/>
                  </a:lnTo>
                  <a:lnTo>
                    <a:pt x="0" y="20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862" r="0" b="-898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579829" cy="203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Industry</a:t>
              </a:r>
              <a:r>
                <a:rPr lang="en-US" sz="55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55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Description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1331" y="0"/>
            <a:ext cx="1466717" cy="10287000"/>
            <a:chOff x="0" y="0"/>
            <a:chExt cx="1955622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56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5673">
                  <a:moveTo>
                    <a:pt x="0" y="0"/>
                  </a:moveTo>
                  <a:lnTo>
                    <a:pt x="1955673" y="0"/>
                  </a:lnTo>
                  <a:lnTo>
                    <a:pt x="19556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9234173"/>
            <a:ext cx="16871947" cy="1052827"/>
            <a:chOff x="0" y="0"/>
            <a:chExt cx="22495929" cy="14037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95890" cy="1403807"/>
            </a:xfrm>
            <a:custGeom>
              <a:avLst/>
              <a:gdLst/>
              <a:ahLst/>
              <a:cxnLst/>
              <a:rect r="r" b="b" t="t" l="l"/>
              <a:pathLst>
                <a:path h="1403807" w="22495890">
                  <a:moveTo>
                    <a:pt x="0" y="0"/>
                  </a:moveTo>
                  <a:lnTo>
                    <a:pt x="22495890" y="0"/>
                  </a:lnTo>
                  <a:lnTo>
                    <a:pt x="22495890" y="1403807"/>
                  </a:lnTo>
                  <a:lnTo>
                    <a:pt x="0" y="14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3" t="-2" r="-153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13218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5"/>
                </a:lnTo>
                <a:lnTo>
                  <a:pt x="0" y="1342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11" t="-53828" r="-15513" b="-4520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5402" y="1896803"/>
            <a:ext cx="6931593" cy="4621062"/>
          </a:xfrm>
          <a:custGeom>
            <a:avLst/>
            <a:gdLst/>
            <a:ahLst/>
            <a:cxnLst/>
            <a:rect r="r" b="b" t="t" l="l"/>
            <a:pathLst>
              <a:path h="4621062" w="6931593">
                <a:moveTo>
                  <a:pt x="0" y="0"/>
                </a:moveTo>
                <a:lnTo>
                  <a:pt x="6931592" y="0"/>
                </a:lnTo>
                <a:lnTo>
                  <a:pt x="6931592" y="4621062"/>
                </a:lnTo>
                <a:lnTo>
                  <a:pt x="0" y="4621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50468" y="1896803"/>
            <a:ext cx="5776327" cy="4621062"/>
          </a:xfrm>
          <a:custGeom>
            <a:avLst/>
            <a:gdLst/>
            <a:ahLst/>
            <a:cxnLst/>
            <a:rect r="r" b="b" t="t" l="l"/>
            <a:pathLst>
              <a:path h="4621062" w="5776327">
                <a:moveTo>
                  <a:pt x="0" y="0"/>
                </a:moveTo>
                <a:lnTo>
                  <a:pt x="5776327" y="0"/>
                </a:lnTo>
                <a:lnTo>
                  <a:pt x="5776327" y="4621062"/>
                </a:lnTo>
                <a:lnTo>
                  <a:pt x="0" y="4621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7098890"/>
            <a:ext cx="16230600" cy="204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About the Industry: </a:t>
            </a:r>
            <a:r>
              <a:rPr lang="en-US" sz="21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LEMKEN operates in the agricultural machinery and farm mechanization industry. It manufactures advanced agricultural implements such as ploughs, cultivators, power harrows, mulchers, and subsoilers.</a:t>
            </a:r>
          </a:p>
          <a:p>
            <a:pPr algn="l">
              <a:lnSpc>
                <a:spcPts val="2111"/>
              </a:lnSpc>
            </a:pPr>
          </a:p>
          <a:p>
            <a:pPr algn="l">
              <a:lnSpc>
                <a:spcPts val="2111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Historical Background: </a:t>
            </a:r>
            <a:r>
              <a:rPr lang="en-US" sz="21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LEMKEN was founded in 1780 in Germany and has over 245 years of experience in agricultural technology. LEMKEN India was incorporated in 2010 as a subsidiary of LEMKEN GmbH and began manufacturing in Nagpur.</a:t>
            </a:r>
          </a:p>
          <a:p>
            <a:pPr algn="l">
              <a:lnSpc>
                <a:spcPts val="211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76564" y="0"/>
            <a:ext cx="10934871" cy="1523400"/>
            <a:chOff x="0" y="0"/>
            <a:chExt cx="14579829" cy="203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829" cy="2031200"/>
            </a:xfrm>
            <a:custGeom>
              <a:avLst/>
              <a:gdLst/>
              <a:ahLst/>
              <a:cxnLst/>
              <a:rect r="r" b="b" t="t" l="l"/>
              <a:pathLst>
                <a:path h="2031200" w="14579829">
                  <a:moveTo>
                    <a:pt x="0" y="0"/>
                  </a:moveTo>
                  <a:lnTo>
                    <a:pt x="14579829" y="0"/>
                  </a:lnTo>
                  <a:lnTo>
                    <a:pt x="14579829" y="2031200"/>
                  </a:lnTo>
                  <a:lnTo>
                    <a:pt x="0" y="20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862" r="0" b="-898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579829" cy="203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sz="5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Industry</a:t>
              </a:r>
              <a:r>
                <a:rPr lang="en-US" sz="56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5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Description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1331" y="0"/>
            <a:ext cx="1466717" cy="10287000"/>
            <a:chOff x="0" y="0"/>
            <a:chExt cx="1955622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56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5673">
                  <a:moveTo>
                    <a:pt x="0" y="0"/>
                  </a:moveTo>
                  <a:lnTo>
                    <a:pt x="1955673" y="0"/>
                  </a:lnTo>
                  <a:lnTo>
                    <a:pt x="19556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534223"/>
            <a:ext cx="16230600" cy="549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Vision: </a:t>
            </a:r>
            <a:r>
              <a:rPr lang="en-US" sz="21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 become India’s most respected premier agricultural implement manufacturer by providing quality products and excellent customer service.</a:t>
            </a:r>
          </a:p>
          <a:p>
            <a:pPr algn="l">
              <a:lnSpc>
                <a:spcPts val="2111"/>
              </a:lnSpc>
            </a:pPr>
          </a:p>
          <a:p>
            <a:pPr algn="l">
              <a:lnSpc>
                <a:spcPts val="2111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Mission: </a:t>
            </a:r>
            <a:r>
              <a:rPr lang="en-US" sz="21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 improve farmers’ productivity and income through reliable, durable and user-friendly mechanized agricultural solutions</a:t>
            </a:r>
          </a:p>
          <a:p>
            <a:pPr algn="l">
              <a:lnSpc>
                <a:spcPts val="2111"/>
              </a:lnSpc>
            </a:pPr>
          </a:p>
          <a:p>
            <a:pPr algn="l">
              <a:lnSpc>
                <a:spcPts val="2111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Location: </a:t>
            </a:r>
            <a:r>
              <a:rPr lang="en-US" sz="21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D-59, MIDC, Butibori, Nagpur, Maharashtra – 44110</a:t>
            </a:r>
          </a:p>
          <a:p>
            <a:pPr algn="l">
              <a:lnSpc>
                <a:spcPts val="2111"/>
              </a:lnSpc>
            </a:pPr>
          </a:p>
          <a:p>
            <a:pPr algn="l">
              <a:lnSpc>
                <a:spcPts val="2111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Annual Turnover: </a:t>
            </a:r>
            <a:r>
              <a:rPr lang="en-US" sz="21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130 Crores</a:t>
            </a:r>
          </a:p>
          <a:p>
            <a:pPr algn="l">
              <a:lnSpc>
                <a:spcPts val="2111"/>
              </a:lnSpc>
            </a:pPr>
          </a:p>
          <a:p>
            <a:pPr algn="l">
              <a:lnSpc>
                <a:spcPts val="2111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Number of Employees: </a:t>
            </a:r>
            <a:r>
              <a:rPr lang="en-US" sz="21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200-300</a:t>
            </a:r>
          </a:p>
          <a:p>
            <a:pPr algn="l">
              <a:lnSpc>
                <a:spcPts val="2111"/>
              </a:lnSpc>
            </a:pPr>
          </a:p>
          <a:p>
            <a:pPr algn="l">
              <a:lnSpc>
                <a:spcPts val="2111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Products:</a:t>
            </a:r>
            <a:r>
              <a:rPr lang="en-US" sz="219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 marL="474979" indent="-237490" lvl="1">
              <a:lnSpc>
                <a:spcPts val="2111"/>
              </a:lnSpc>
              <a:buFont typeface="Arial"/>
              <a:buChar char="•"/>
            </a:pPr>
            <a:r>
              <a:rPr lang="en-US" b="true" sz="2199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Juwel 6 M &amp; Opal Series – Reversible Ploughs</a:t>
            </a:r>
          </a:p>
          <a:p>
            <a:pPr algn="l" marL="474979" indent="-237490" lvl="1">
              <a:lnSpc>
                <a:spcPts val="2111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Achat 70 &amp; Kyanite 7 – Tyne Cultivators</a:t>
            </a:r>
          </a:p>
          <a:p>
            <a:pPr algn="l" marL="474979" indent="-237490" lvl="1">
              <a:lnSpc>
                <a:spcPts val="2111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Perlite 5 – Power Harrow</a:t>
            </a:r>
          </a:p>
          <a:p>
            <a:pPr algn="l" marL="474979" indent="-237490" lvl="1">
              <a:lnSpc>
                <a:spcPts val="2111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Melior – Subsoiler</a:t>
            </a:r>
          </a:p>
          <a:p>
            <a:pPr algn="l" marL="474979" indent="-237490" lvl="1">
              <a:lnSpc>
                <a:spcPts val="2111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Spinel – Mulcher</a:t>
            </a:r>
          </a:p>
          <a:p>
            <a:pPr algn="l">
              <a:lnSpc>
                <a:spcPts val="211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234173"/>
            <a:ext cx="16871947" cy="1052827"/>
            <a:chOff x="0" y="0"/>
            <a:chExt cx="22495929" cy="14037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95890" cy="1403807"/>
            </a:xfrm>
            <a:custGeom>
              <a:avLst/>
              <a:gdLst/>
              <a:ahLst/>
              <a:cxnLst/>
              <a:rect r="r" b="b" t="t" l="l"/>
              <a:pathLst>
                <a:path h="1403807" w="22495890">
                  <a:moveTo>
                    <a:pt x="0" y="0"/>
                  </a:moveTo>
                  <a:lnTo>
                    <a:pt x="22495890" y="0"/>
                  </a:lnTo>
                  <a:lnTo>
                    <a:pt x="22495890" y="1403807"/>
                  </a:lnTo>
                  <a:lnTo>
                    <a:pt x="0" y="14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3" t="-2" r="-153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13218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5"/>
                </a:lnTo>
                <a:lnTo>
                  <a:pt x="0" y="1342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11" t="-53828" r="-15513" b="-4520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7119153"/>
            <a:ext cx="4748948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</a:t>
            </a: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entor Details:</a:t>
            </a:r>
          </a:p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Name: Mr. Nishant Ganorkar</a:t>
            </a:r>
          </a:p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Phone No.: 95452 78822</a:t>
            </a:r>
          </a:p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Email ID: n.ganorkar@lemken.com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26686" y="7119153"/>
            <a:ext cx="4617172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HR </a:t>
            </a:r>
            <a:r>
              <a:rPr lang="en-US" sz="2199" b="true">
                <a:solidFill>
                  <a:srgbClr val="94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Details:</a:t>
            </a:r>
          </a:p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Name: Mr. Shripad Takalkar</a:t>
            </a:r>
          </a:p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Phone No.: 93222 84849</a:t>
            </a:r>
          </a:p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Email ID: S.Takalkar@lemken.com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16074" y="228900"/>
            <a:ext cx="10934871" cy="1523400"/>
            <a:chOff x="0" y="0"/>
            <a:chExt cx="14579829" cy="203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829" cy="2031200"/>
            </a:xfrm>
            <a:custGeom>
              <a:avLst/>
              <a:gdLst/>
              <a:ahLst/>
              <a:cxnLst/>
              <a:rect r="r" b="b" t="t" l="l"/>
              <a:pathLst>
                <a:path h="2031200" w="14579829">
                  <a:moveTo>
                    <a:pt x="0" y="0"/>
                  </a:moveTo>
                  <a:lnTo>
                    <a:pt x="14579829" y="0"/>
                  </a:lnTo>
                  <a:lnTo>
                    <a:pt x="14579829" y="2031200"/>
                  </a:lnTo>
                  <a:lnTo>
                    <a:pt x="0" y="20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862" r="0" b="-898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579829" cy="203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Problem Identification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47207" y="-9525"/>
            <a:ext cx="1240841" cy="10296525"/>
            <a:chOff x="0" y="0"/>
            <a:chExt cx="1654454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4505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1654505">
                  <a:moveTo>
                    <a:pt x="0" y="0"/>
                  </a:moveTo>
                  <a:lnTo>
                    <a:pt x="1654505" y="0"/>
                  </a:lnTo>
                  <a:lnTo>
                    <a:pt x="1654505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155" t="0" r="-915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9282427"/>
            <a:ext cx="17047207" cy="1004573"/>
            <a:chOff x="0" y="0"/>
            <a:chExt cx="22729609" cy="1339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729571" cy="1339469"/>
            </a:xfrm>
            <a:custGeom>
              <a:avLst/>
              <a:gdLst/>
              <a:ahLst/>
              <a:cxnLst/>
              <a:rect r="r" b="b" t="t" l="l"/>
              <a:pathLst>
                <a:path h="1339469" w="22729571">
                  <a:moveTo>
                    <a:pt x="0" y="0"/>
                  </a:moveTo>
                  <a:lnTo>
                    <a:pt x="22729571" y="0"/>
                  </a:lnTo>
                  <a:lnTo>
                    <a:pt x="22729571" y="1339469"/>
                  </a:lnTo>
                  <a:lnTo>
                    <a:pt x="0" y="1339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6" r="0" b="-278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29601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5"/>
                </a:lnTo>
                <a:lnTo>
                  <a:pt x="0" y="1342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11" t="-53828" r="-15513" b="-4520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043169"/>
            <a:ext cx="16230600" cy="14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Need for Smarter Industries: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 technology moves toward </a:t>
            </a: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greater efficiency, accuracy, and automation,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industries need to evolve beyond conventional mechanical systems. Mechanical power alone is </a:t>
            </a: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 longer enough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the integration of IoT, electronics, software, and AI can bring the </a:t>
            </a: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next level of industrial intelligence.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48" y="3938820"/>
            <a:ext cx="16230552" cy="14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Idea Behind IEMAS: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During my internship interview, I was asked </a:t>
            </a: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whether energy monitoring across the plant could be automated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My answer was a confident </a:t>
            </a: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“Yes.”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This led to the idea of developing a system that could </a:t>
            </a: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automate data collection, reduce manual calculations, and make energy consumption easier to understand through visualization and analytics.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834295"/>
            <a:ext cx="16230600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Industry Challenges:</a:t>
            </a:r>
          </a:p>
          <a:p>
            <a:pPr algn="l" marL="474979" indent="-237490" lvl="1">
              <a:lnSpc>
                <a:spcPts val="263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Manual Calculations –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Energy readings and consumption calculations require manual effort.</a:t>
            </a:r>
          </a:p>
          <a:p>
            <a:pPr algn="l" marL="474979" indent="-237490" lvl="1">
              <a:lnSpc>
                <a:spcPts val="263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Limited Data Visualization –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 centralized dashboard to easily understand energy trends and patterns.</a:t>
            </a:r>
          </a:p>
          <a:p>
            <a:pPr algn="l" marL="474979" indent="-237490" lvl="1">
              <a:lnSpc>
                <a:spcPts val="263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Limited Accessibility – 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Energy data is not easily accessible from a centralized location when required.</a:t>
            </a:r>
          </a:p>
          <a:p>
            <a:pPr algn="l" marL="474979" indent="-237490" lvl="1">
              <a:lnSpc>
                <a:spcPts val="263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Privacy &amp; Security – 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Sensitive industrial data should not be exposed to external AI services.</a:t>
            </a:r>
          </a:p>
          <a:p>
            <a:pPr algn="l" marL="474979" indent="-237490" lvl="1">
              <a:lnSpc>
                <a:spcPts val="263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Private AI Requirement –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 organization-specific/private LLM layer can provide AI insights while maintaining data confidentiality and company policies.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641737" y="8567970"/>
            <a:ext cx="117637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“If we can automate production, why should energy monitoring remain manual?”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16074" y="228900"/>
            <a:ext cx="10934871" cy="1523400"/>
            <a:chOff x="0" y="0"/>
            <a:chExt cx="14579829" cy="203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79829" cy="2031200"/>
            </a:xfrm>
            <a:custGeom>
              <a:avLst/>
              <a:gdLst/>
              <a:ahLst/>
              <a:cxnLst/>
              <a:rect r="r" b="b" t="t" l="l"/>
              <a:pathLst>
                <a:path h="2031200" w="14579829">
                  <a:moveTo>
                    <a:pt x="0" y="0"/>
                  </a:moveTo>
                  <a:lnTo>
                    <a:pt x="14579829" y="0"/>
                  </a:lnTo>
                  <a:lnTo>
                    <a:pt x="14579829" y="2031200"/>
                  </a:lnTo>
                  <a:lnTo>
                    <a:pt x="0" y="20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862" r="0" b="-898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579829" cy="203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sz="5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Description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47207" y="-9525"/>
            <a:ext cx="1240841" cy="10296525"/>
            <a:chOff x="0" y="0"/>
            <a:chExt cx="1654454" cy="13728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4505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1654505">
                  <a:moveTo>
                    <a:pt x="0" y="0"/>
                  </a:moveTo>
                  <a:lnTo>
                    <a:pt x="1654505" y="0"/>
                  </a:lnTo>
                  <a:lnTo>
                    <a:pt x="1654505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155" t="0" r="-915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9282427"/>
            <a:ext cx="17047207" cy="1004573"/>
            <a:chOff x="0" y="0"/>
            <a:chExt cx="22729609" cy="1339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729571" cy="1339469"/>
            </a:xfrm>
            <a:custGeom>
              <a:avLst/>
              <a:gdLst/>
              <a:ahLst/>
              <a:cxnLst/>
              <a:rect r="r" b="b" t="t" l="l"/>
              <a:pathLst>
                <a:path h="1339469" w="22729571">
                  <a:moveTo>
                    <a:pt x="0" y="0"/>
                  </a:moveTo>
                  <a:lnTo>
                    <a:pt x="22729571" y="0"/>
                  </a:lnTo>
                  <a:lnTo>
                    <a:pt x="22729571" y="1339469"/>
                  </a:lnTo>
                  <a:lnTo>
                    <a:pt x="0" y="1339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6" r="0" b="-2784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29601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5"/>
                </a:lnTo>
                <a:lnTo>
                  <a:pt x="0" y="1342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11" t="-53828" r="-15513" b="-45207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689037" y="1847018"/>
            <a:ext cx="1216011" cy="126391"/>
            <a:chOff x="0" y="0"/>
            <a:chExt cx="1621348" cy="168521"/>
          </a:xfrm>
        </p:grpSpPr>
        <p:sp>
          <p:nvSpPr>
            <p:cNvPr name="AutoShape 11" id="11"/>
            <p:cNvSpPr/>
            <p:nvPr/>
          </p:nvSpPr>
          <p:spPr>
            <a:xfrm>
              <a:off x="168521" y="84260"/>
              <a:ext cx="1452827" cy="0"/>
            </a:xfrm>
            <a:prstGeom prst="line">
              <a:avLst/>
            </a:prstGeom>
            <a:ln cap="flat" w="50800">
              <a:solidFill>
                <a:srgbClr val="E55425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68521" cy="16852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542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3718916" y="1755515"/>
            <a:ext cx="10850168" cy="32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599" b="true">
                <a:solidFill>
                  <a:srgbClr val="63388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IEMAS - Industrial Energy Monitoring &amp; Analytics System (IIOT)</a:t>
            </a:r>
          </a:p>
        </p:txBody>
      </p:sp>
      <p:grpSp>
        <p:nvGrpSpPr>
          <p:cNvPr name="Group 16" id="16"/>
          <p:cNvGrpSpPr/>
          <p:nvPr/>
        </p:nvGrpSpPr>
        <p:grpSpPr>
          <a:xfrm rot="-10800000">
            <a:off x="14330959" y="1831448"/>
            <a:ext cx="1216011" cy="126391"/>
            <a:chOff x="0" y="0"/>
            <a:chExt cx="1621348" cy="168521"/>
          </a:xfrm>
        </p:grpSpPr>
        <p:sp>
          <p:nvSpPr>
            <p:cNvPr name="AutoShape 17" id="17"/>
            <p:cNvSpPr/>
            <p:nvPr/>
          </p:nvSpPr>
          <p:spPr>
            <a:xfrm>
              <a:off x="168521" y="84260"/>
              <a:ext cx="1452827" cy="0"/>
            </a:xfrm>
            <a:prstGeom prst="line">
              <a:avLst/>
            </a:prstGeom>
            <a:ln cap="flat" w="50800">
              <a:solidFill>
                <a:srgbClr val="E55425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0"/>
              <a:ext cx="168521" cy="16852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542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39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1310254" y="2357622"/>
            <a:ext cx="6231809" cy="6685078"/>
            <a:chOff x="0" y="0"/>
            <a:chExt cx="1641300" cy="17606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1300" cy="1760679"/>
            </a:xfrm>
            <a:custGeom>
              <a:avLst/>
              <a:gdLst/>
              <a:ahLst/>
              <a:cxnLst/>
              <a:rect r="r" b="b" t="t" l="l"/>
              <a:pathLst>
                <a:path h="1760679" w="1641300">
                  <a:moveTo>
                    <a:pt x="12423" y="0"/>
                  </a:moveTo>
                  <a:lnTo>
                    <a:pt x="1628876" y="0"/>
                  </a:lnTo>
                  <a:cubicBezTo>
                    <a:pt x="1632171" y="0"/>
                    <a:pt x="1635331" y="1309"/>
                    <a:pt x="1637661" y="3639"/>
                  </a:cubicBezTo>
                  <a:cubicBezTo>
                    <a:pt x="1639991" y="5968"/>
                    <a:pt x="1641300" y="9128"/>
                    <a:pt x="1641300" y="12423"/>
                  </a:cubicBezTo>
                  <a:lnTo>
                    <a:pt x="1641300" y="1748256"/>
                  </a:lnTo>
                  <a:cubicBezTo>
                    <a:pt x="1641300" y="1755117"/>
                    <a:pt x="1635738" y="1760679"/>
                    <a:pt x="1628876" y="1760679"/>
                  </a:cubicBezTo>
                  <a:lnTo>
                    <a:pt x="12423" y="1760679"/>
                  </a:lnTo>
                  <a:cubicBezTo>
                    <a:pt x="5562" y="1760679"/>
                    <a:pt x="0" y="1755117"/>
                    <a:pt x="0" y="1748256"/>
                  </a:cubicBezTo>
                  <a:lnTo>
                    <a:pt x="0" y="12423"/>
                  </a:lnTo>
                  <a:cubicBezTo>
                    <a:pt x="0" y="5562"/>
                    <a:pt x="5562" y="0"/>
                    <a:pt x="12423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641300" cy="177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972541" y="2357622"/>
            <a:ext cx="8600070" cy="3265419"/>
            <a:chOff x="0" y="0"/>
            <a:chExt cx="2265039" cy="8600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5039" cy="860028"/>
            </a:xfrm>
            <a:custGeom>
              <a:avLst/>
              <a:gdLst/>
              <a:ahLst/>
              <a:cxnLst/>
              <a:rect r="r" b="b" t="t" l="l"/>
              <a:pathLst>
                <a:path h="860028" w="2265039">
                  <a:moveTo>
                    <a:pt x="9002" y="0"/>
                  </a:moveTo>
                  <a:lnTo>
                    <a:pt x="2256037" y="0"/>
                  </a:lnTo>
                  <a:cubicBezTo>
                    <a:pt x="2261009" y="0"/>
                    <a:pt x="2265039" y="4030"/>
                    <a:pt x="2265039" y="9002"/>
                  </a:cubicBezTo>
                  <a:lnTo>
                    <a:pt x="2265039" y="851026"/>
                  </a:lnTo>
                  <a:cubicBezTo>
                    <a:pt x="2265039" y="853413"/>
                    <a:pt x="2264090" y="855703"/>
                    <a:pt x="2262402" y="857391"/>
                  </a:cubicBezTo>
                  <a:cubicBezTo>
                    <a:pt x="2260714" y="859080"/>
                    <a:pt x="2258424" y="860028"/>
                    <a:pt x="2256037" y="860028"/>
                  </a:cubicBezTo>
                  <a:lnTo>
                    <a:pt x="9002" y="860028"/>
                  </a:lnTo>
                  <a:cubicBezTo>
                    <a:pt x="6615" y="860028"/>
                    <a:pt x="4325" y="859080"/>
                    <a:pt x="2637" y="857391"/>
                  </a:cubicBezTo>
                  <a:cubicBezTo>
                    <a:pt x="948" y="855703"/>
                    <a:pt x="0" y="853413"/>
                    <a:pt x="0" y="851026"/>
                  </a:cubicBezTo>
                  <a:lnTo>
                    <a:pt x="0" y="9002"/>
                  </a:lnTo>
                  <a:cubicBezTo>
                    <a:pt x="0" y="6615"/>
                    <a:pt x="948" y="4325"/>
                    <a:pt x="2637" y="2637"/>
                  </a:cubicBezTo>
                  <a:cubicBezTo>
                    <a:pt x="4325" y="948"/>
                    <a:pt x="6615" y="0"/>
                    <a:pt x="90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65039" cy="869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72541" y="5708765"/>
            <a:ext cx="8600070" cy="3333935"/>
            <a:chOff x="0" y="0"/>
            <a:chExt cx="2265039" cy="8780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65039" cy="878073"/>
            </a:xfrm>
            <a:custGeom>
              <a:avLst/>
              <a:gdLst/>
              <a:ahLst/>
              <a:cxnLst/>
              <a:rect r="r" b="b" t="t" l="l"/>
              <a:pathLst>
                <a:path h="878073" w="2265039">
                  <a:moveTo>
                    <a:pt x="9002" y="0"/>
                  </a:moveTo>
                  <a:lnTo>
                    <a:pt x="2256037" y="0"/>
                  </a:lnTo>
                  <a:cubicBezTo>
                    <a:pt x="2261009" y="0"/>
                    <a:pt x="2265039" y="4030"/>
                    <a:pt x="2265039" y="9002"/>
                  </a:cubicBezTo>
                  <a:lnTo>
                    <a:pt x="2265039" y="869071"/>
                  </a:lnTo>
                  <a:cubicBezTo>
                    <a:pt x="2265039" y="871459"/>
                    <a:pt x="2264090" y="873748"/>
                    <a:pt x="2262402" y="875437"/>
                  </a:cubicBezTo>
                  <a:cubicBezTo>
                    <a:pt x="2260714" y="877125"/>
                    <a:pt x="2258424" y="878073"/>
                    <a:pt x="2256037" y="878073"/>
                  </a:cubicBezTo>
                  <a:lnTo>
                    <a:pt x="9002" y="878073"/>
                  </a:lnTo>
                  <a:cubicBezTo>
                    <a:pt x="6615" y="878073"/>
                    <a:pt x="4325" y="877125"/>
                    <a:pt x="2637" y="875437"/>
                  </a:cubicBezTo>
                  <a:cubicBezTo>
                    <a:pt x="948" y="873748"/>
                    <a:pt x="0" y="871459"/>
                    <a:pt x="0" y="869071"/>
                  </a:cubicBezTo>
                  <a:lnTo>
                    <a:pt x="0" y="9002"/>
                  </a:lnTo>
                  <a:cubicBezTo>
                    <a:pt x="0" y="6615"/>
                    <a:pt x="948" y="4325"/>
                    <a:pt x="2637" y="2637"/>
                  </a:cubicBezTo>
                  <a:cubicBezTo>
                    <a:pt x="4325" y="948"/>
                    <a:pt x="6615" y="0"/>
                    <a:pt x="9002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265039" cy="887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358346" y="8986661"/>
            <a:ext cx="6147115" cy="0"/>
          </a:xfrm>
          <a:prstGeom prst="line">
            <a:avLst/>
          </a:prstGeom>
          <a:ln cap="rnd" w="66675">
            <a:solidFill>
              <a:srgbClr val="E554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358346" y="3096719"/>
            <a:ext cx="6147115" cy="558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develop an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IoT-based system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real-time monitoring and analysis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 industrial energy consumption.</a:t>
            </a:r>
          </a:p>
          <a:p>
            <a:pPr algn="l">
              <a:lnSpc>
                <a:spcPts val="2200"/>
              </a:lnSpc>
            </a:pPr>
          </a:p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collect meter readings through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RS485 Modbus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store them securely, and visualize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machine-wise and PMCC-wise consumption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>
              <a:lnSpc>
                <a:spcPts val="2200"/>
              </a:lnSpc>
            </a:pPr>
          </a:p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use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insights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 identify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abnormal consumption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energy waste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and opportunities for reduction.</a:t>
            </a:r>
          </a:p>
          <a:p>
            <a:pPr algn="l">
              <a:lnSpc>
                <a:spcPts val="2200"/>
              </a:lnSpc>
            </a:pPr>
          </a:p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create a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scalable solution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plant-wide energy monitoring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>
              <a:lnSpc>
                <a:spcPts val="2200"/>
              </a:lnSpc>
            </a:pPr>
          </a:p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Help Industry to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save on Energy Bills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by optimizing energy planning.</a:t>
            </a:r>
          </a:p>
          <a:p>
            <a:pPr algn="l">
              <a:lnSpc>
                <a:spcPts val="2200"/>
              </a:lnSpc>
            </a:pPr>
          </a:p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Access to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Historical data in visualized formats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53491" y="3009870"/>
            <a:ext cx="8572073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Monitor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energy consumption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from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industrial energy meters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collect readings through an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edge device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>
              <a:lnSpc>
                <a:spcPts val="2200"/>
              </a:lnSpc>
            </a:pPr>
          </a:p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Provide a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web dashboard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with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live data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historical trends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machine-wise/PMCC-wise analysis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and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reports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>
              <a:lnSpc>
                <a:spcPts val="2200"/>
              </a:lnSpc>
            </a:pPr>
          </a:p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Enable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future expansion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multiple meters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plant-wide monitoring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alerts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predictive insights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and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industrial-system integration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039794" y="6378653"/>
            <a:ext cx="8338856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Reduces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manual meter checking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dependency on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handwritten records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>
              <a:lnSpc>
                <a:spcPts val="2200"/>
              </a:lnSpc>
            </a:pPr>
          </a:p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Helps quickly identify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high energy consumption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idle loads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abnormal spikes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and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energy wastage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>
              <a:lnSpc>
                <a:spcPts val="2200"/>
              </a:lnSpc>
            </a:pPr>
          </a:p>
          <a:p>
            <a:pPr algn="l" marL="431801" indent="-215900" lvl="1">
              <a:lnSpc>
                <a:spcPts val="22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Enables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data-driven decisions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better energy management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and </a:t>
            </a:r>
            <a:r>
              <a:rPr lang="en-US" b="true" sz="20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potential reduction in operating costs</a:t>
            </a:r>
            <a:r>
              <a:rPr lang="en-US" sz="20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05857" y="2526318"/>
            <a:ext cx="952418" cy="31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SCOPE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96332" y="5860256"/>
            <a:ext cx="1344281" cy="31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BENEFITS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53596" y="2526318"/>
            <a:ext cx="1445407" cy="31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8010641" y="8997313"/>
            <a:ext cx="8504820" cy="0"/>
          </a:xfrm>
          <a:prstGeom prst="line">
            <a:avLst/>
          </a:prstGeom>
          <a:ln cap="rnd" w="66675">
            <a:solidFill>
              <a:srgbClr val="E554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8039794" y="5575588"/>
            <a:ext cx="8504820" cy="0"/>
          </a:xfrm>
          <a:prstGeom prst="line">
            <a:avLst/>
          </a:prstGeom>
          <a:ln cap="rnd" w="66675">
            <a:solidFill>
              <a:srgbClr val="E5542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45737" y="0"/>
            <a:ext cx="7796527" cy="1489273"/>
            <a:chOff x="0" y="0"/>
            <a:chExt cx="10395369" cy="1985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95373" cy="1985698"/>
            </a:xfrm>
            <a:custGeom>
              <a:avLst/>
              <a:gdLst/>
              <a:ahLst/>
              <a:cxnLst/>
              <a:rect r="r" b="b" t="t" l="l"/>
              <a:pathLst>
                <a:path h="1985698" w="10395373">
                  <a:moveTo>
                    <a:pt x="0" y="0"/>
                  </a:moveTo>
                  <a:lnTo>
                    <a:pt x="10395373" y="0"/>
                  </a:lnTo>
                  <a:lnTo>
                    <a:pt x="10395373" y="1985698"/>
                  </a:lnTo>
                  <a:lnTo>
                    <a:pt x="0" y="19856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40" r="0" b="-531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395369" cy="1985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b="true" sz="5599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Abstract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70300" y="0"/>
            <a:ext cx="5217700" cy="5034001"/>
            <a:chOff x="0" y="0"/>
            <a:chExt cx="6956933" cy="67120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56933" cy="6711950"/>
            </a:xfrm>
            <a:custGeom>
              <a:avLst/>
              <a:gdLst/>
              <a:ahLst/>
              <a:cxnLst/>
              <a:rect r="r" b="b" t="t" l="l"/>
              <a:pathLst>
                <a:path h="6711950" w="6956933">
                  <a:moveTo>
                    <a:pt x="0" y="0"/>
                  </a:moveTo>
                  <a:lnTo>
                    <a:pt x="6956933" y="0"/>
                  </a:lnTo>
                  <a:lnTo>
                    <a:pt x="6956933" y="6711950"/>
                  </a:lnTo>
                  <a:lnTo>
                    <a:pt x="0" y="671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9282427"/>
            <a:ext cx="17926050" cy="1004573"/>
            <a:chOff x="0" y="0"/>
            <a:chExt cx="23901400" cy="1339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901400" cy="1339469"/>
            </a:xfrm>
            <a:custGeom>
              <a:avLst/>
              <a:gdLst/>
              <a:ahLst/>
              <a:cxnLst/>
              <a:rect r="r" b="b" t="t" l="l"/>
              <a:pathLst>
                <a:path h="1339469" w="23901400">
                  <a:moveTo>
                    <a:pt x="0" y="0"/>
                  </a:moveTo>
                  <a:lnTo>
                    <a:pt x="23901400" y="0"/>
                  </a:lnTo>
                  <a:lnTo>
                    <a:pt x="23901400" y="1339469"/>
                  </a:lnTo>
                  <a:lnTo>
                    <a:pt x="0" y="1339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508" r="0" b="-550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63664" y="1326611"/>
            <a:ext cx="10864674" cy="3784451"/>
            <a:chOff x="0" y="0"/>
            <a:chExt cx="2861478" cy="9967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61478" cy="996728"/>
            </a:xfrm>
            <a:custGeom>
              <a:avLst/>
              <a:gdLst/>
              <a:ahLst/>
              <a:cxnLst/>
              <a:rect r="r" b="b" t="t" l="l"/>
              <a:pathLst>
                <a:path h="996728" w="2861478">
                  <a:moveTo>
                    <a:pt x="7838" y="0"/>
                  </a:moveTo>
                  <a:lnTo>
                    <a:pt x="2853640" y="0"/>
                  </a:lnTo>
                  <a:cubicBezTo>
                    <a:pt x="2855719" y="0"/>
                    <a:pt x="2857712" y="826"/>
                    <a:pt x="2859182" y="2296"/>
                  </a:cubicBezTo>
                  <a:cubicBezTo>
                    <a:pt x="2860652" y="3766"/>
                    <a:pt x="2861478" y="5759"/>
                    <a:pt x="2861478" y="7838"/>
                  </a:cubicBezTo>
                  <a:lnTo>
                    <a:pt x="2861478" y="988889"/>
                  </a:lnTo>
                  <a:cubicBezTo>
                    <a:pt x="2861478" y="990968"/>
                    <a:pt x="2860652" y="992962"/>
                    <a:pt x="2859182" y="994432"/>
                  </a:cubicBezTo>
                  <a:cubicBezTo>
                    <a:pt x="2857712" y="995902"/>
                    <a:pt x="2855719" y="996728"/>
                    <a:pt x="2853640" y="996728"/>
                  </a:cubicBezTo>
                  <a:lnTo>
                    <a:pt x="7838" y="996728"/>
                  </a:lnTo>
                  <a:cubicBezTo>
                    <a:pt x="5759" y="996728"/>
                    <a:pt x="3766" y="995902"/>
                    <a:pt x="2296" y="994432"/>
                  </a:cubicBezTo>
                  <a:cubicBezTo>
                    <a:pt x="826" y="992962"/>
                    <a:pt x="0" y="990968"/>
                    <a:pt x="0" y="988889"/>
                  </a:cubicBezTo>
                  <a:lnTo>
                    <a:pt x="0" y="7838"/>
                  </a:lnTo>
                  <a:cubicBezTo>
                    <a:pt x="0" y="5759"/>
                    <a:pt x="826" y="3766"/>
                    <a:pt x="2296" y="2296"/>
                  </a:cubicBezTo>
                  <a:cubicBezTo>
                    <a:pt x="3766" y="826"/>
                    <a:pt x="5759" y="0"/>
                    <a:pt x="783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861478" cy="1006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Industrial Energy Monitoring &amp; Analytics System (IEMAS)</a:t>
              </a:r>
              <a:r>
                <a:rPr lang="en-US" sz="21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an IoT-based solution designed </a:t>
              </a:r>
              <a:r>
                <a:rPr lang="en-US" sz="21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to centralize and simplify</a:t>
              </a:r>
              <a:r>
                <a:rPr lang="en-US" sz="21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industrial energy monitoring. The system collects energy readings from industrial meters using </a:t>
              </a:r>
              <a:r>
                <a:rPr lang="en-US" sz="21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RS485 Modbus</a:t>
              </a:r>
              <a:r>
                <a:rPr lang="en-US" sz="21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communication, stores the data, and presents it through a </a:t>
              </a:r>
              <a:r>
                <a:rPr lang="en-US" sz="21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web-based dashboard.</a:t>
              </a:r>
              <a:r>
                <a:rPr lang="en-US" sz="21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1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AI-powered insights</a:t>
              </a:r>
              <a:r>
                <a:rPr lang="en-US" sz="21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help users understand consumption patterns and identify potential energy wastage.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Expected Impact: 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Reduced manual effort 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Faster identification of energy wastage 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Better data-driven energy management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601" y="5311087"/>
            <a:ext cx="8760329" cy="3612008"/>
            <a:chOff x="0" y="0"/>
            <a:chExt cx="2307247" cy="951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247" cy="951311"/>
            </a:xfrm>
            <a:custGeom>
              <a:avLst/>
              <a:gdLst/>
              <a:ahLst/>
              <a:cxnLst/>
              <a:rect r="r" b="b" t="t" l="l"/>
              <a:pathLst>
                <a:path h="951311" w="2307247">
                  <a:moveTo>
                    <a:pt x="9721" y="0"/>
                  </a:moveTo>
                  <a:lnTo>
                    <a:pt x="2297526" y="0"/>
                  </a:lnTo>
                  <a:cubicBezTo>
                    <a:pt x="2300104" y="0"/>
                    <a:pt x="2302577" y="1024"/>
                    <a:pt x="2304400" y="2847"/>
                  </a:cubicBezTo>
                  <a:cubicBezTo>
                    <a:pt x="2306223" y="4670"/>
                    <a:pt x="2307247" y="7143"/>
                    <a:pt x="2307247" y="9721"/>
                  </a:cubicBezTo>
                  <a:lnTo>
                    <a:pt x="2307247" y="941589"/>
                  </a:lnTo>
                  <a:cubicBezTo>
                    <a:pt x="2307247" y="944168"/>
                    <a:pt x="2306223" y="946640"/>
                    <a:pt x="2304400" y="948463"/>
                  </a:cubicBezTo>
                  <a:cubicBezTo>
                    <a:pt x="2302577" y="950286"/>
                    <a:pt x="2300104" y="951311"/>
                    <a:pt x="2297526" y="951311"/>
                  </a:cubicBezTo>
                  <a:lnTo>
                    <a:pt x="9721" y="951311"/>
                  </a:lnTo>
                  <a:cubicBezTo>
                    <a:pt x="7143" y="951311"/>
                    <a:pt x="4670" y="950286"/>
                    <a:pt x="2847" y="948463"/>
                  </a:cubicBezTo>
                  <a:cubicBezTo>
                    <a:pt x="1024" y="946640"/>
                    <a:pt x="0" y="944168"/>
                    <a:pt x="0" y="941589"/>
                  </a:cubicBezTo>
                  <a:lnTo>
                    <a:pt x="0" y="9721"/>
                  </a:lnTo>
                  <a:cubicBezTo>
                    <a:pt x="0" y="7143"/>
                    <a:pt x="1024" y="4670"/>
                    <a:pt x="2847" y="2847"/>
                  </a:cubicBezTo>
                  <a:cubicBezTo>
                    <a:pt x="4670" y="1024"/>
                    <a:pt x="7143" y="0"/>
                    <a:pt x="9721" y="0"/>
                  </a:cubicBezTo>
                  <a:close/>
                </a:path>
              </a:pathLst>
            </a:custGeom>
            <a:solidFill>
              <a:srgbClr val="F4E6F5"/>
            </a:solidFill>
            <a:ln w="19050" cap="sq">
              <a:solidFill>
                <a:srgbClr val="633883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307247" cy="960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326405" y="2594790"/>
            <a:ext cx="7107124" cy="6495001"/>
          </a:xfrm>
          <a:custGeom>
            <a:avLst/>
            <a:gdLst/>
            <a:ahLst/>
            <a:cxnLst/>
            <a:rect r="r" b="b" t="t" l="l"/>
            <a:pathLst>
              <a:path h="6495001" w="7107124">
                <a:moveTo>
                  <a:pt x="0" y="0"/>
                </a:moveTo>
                <a:lnTo>
                  <a:pt x="7107123" y="0"/>
                </a:lnTo>
                <a:lnTo>
                  <a:pt x="7107123" y="6495001"/>
                </a:lnTo>
                <a:lnTo>
                  <a:pt x="0" y="64950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63664" y="5930060"/>
            <a:ext cx="8566309" cy="262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211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Real-time Energy Monitoring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from industrial meters</a:t>
            </a:r>
          </a:p>
          <a:p>
            <a:pPr algn="l" marL="474979" indent="-237490" lvl="1">
              <a:lnSpc>
                <a:spcPts val="3211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Machine &amp; PMCC-wise Analysis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through interactive dashboards</a:t>
            </a:r>
          </a:p>
          <a:p>
            <a:pPr algn="l" marL="474979" indent="-237490" lvl="1">
              <a:lnSpc>
                <a:spcPts val="3211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Historical Data &amp; Reports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energy consumption tracking</a:t>
            </a:r>
          </a:p>
          <a:p>
            <a:pPr algn="l" marL="474979" indent="-237490" lvl="1">
              <a:lnSpc>
                <a:spcPts val="3211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AI-powered Insights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trends and abnormal consumption</a:t>
            </a:r>
          </a:p>
          <a:p>
            <a:pPr algn="l" marL="474979" indent="-237490" lvl="1">
              <a:lnSpc>
                <a:spcPts val="3211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Local Data Buffering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when internet connectivity is unavailable</a:t>
            </a:r>
          </a:p>
          <a:p>
            <a:pPr algn="l" marL="474979" indent="-237490" lvl="1">
              <a:lnSpc>
                <a:spcPts val="3211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Scalable Architecture</a:t>
            </a:r>
            <a:r>
              <a:rPr lang="en-US" sz="21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future plant-wide deployment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8962" y="5388138"/>
            <a:ext cx="2204442" cy="45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b="true" sz="23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</a:t>
            </a:r>
            <a:r>
              <a:rPr lang="en-US" b="true" sz="23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ey Highlights: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14521" y="23772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5"/>
                </a:lnTo>
                <a:lnTo>
                  <a:pt x="0" y="13428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511" t="-53828" r="-15513" b="-4520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70300" y="0"/>
            <a:ext cx="5217700" cy="5034001"/>
            <a:chOff x="0" y="0"/>
            <a:chExt cx="6956933" cy="6712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56933" cy="6711950"/>
            </a:xfrm>
            <a:custGeom>
              <a:avLst/>
              <a:gdLst/>
              <a:ahLst/>
              <a:cxnLst/>
              <a:rect r="r" b="b" t="t" l="l"/>
              <a:pathLst>
                <a:path h="6711950" w="6956933">
                  <a:moveTo>
                    <a:pt x="0" y="0"/>
                  </a:moveTo>
                  <a:lnTo>
                    <a:pt x="6956933" y="0"/>
                  </a:lnTo>
                  <a:lnTo>
                    <a:pt x="6956933" y="6711950"/>
                  </a:lnTo>
                  <a:lnTo>
                    <a:pt x="0" y="671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77746" y="0"/>
            <a:ext cx="11932508" cy="1489274"/>
            <a:chOff x="0" y="0"/>
            <a:chExt cx="15910011" cy="19856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10010" cy="1985698"/>
            </a:xfrm>
            <a:custGeom>
              <a:avLst/>
              <a:gdLst/>
              <a:ahLst/>
              <a:cxnLst/>
              <a:rect r="r" b="b" t="t" l="l"/>
              <a:pathLst>
                <a:path h="1985698" w="15910010">
                  <a:moveTo>
                    <a:pt x="0" y="0"/>
                  </a:moveTo>
                  <a:lnTo>
                    <a:pt x="15910010" y="0"/>
                  </a:lnTo>
                  <a:lnTo>
                    <a:pt x="15910010" y="1985698"/>
                  </a:lnTo>
                  <a:lnTo>
                    <a:pt x="0" y="19856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534" r="7327" b="-958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5910011" cy="1985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sz="5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Hardware &amp; Software Specification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282427"/>
            <a:ext cx="18144487" cy="1004573"/>
            <a:chOff x="0" y="0"/>
            <a:chExt cx="24192649" cy="1339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92612" cy="1339469"/>
            </a:xfrm>
            <a:custGeom>
              <a:avLst/>
              <a:gdLst/>
              <a:ahLst/>
              <a:cxnLst/>
              <a:rect r="r" b="b" t="t" l="l"/>
              <a:pathLst>
                <a:path h="1339469" w="24192612">
                  <a:moveTo>
                    <a:pt x="0" y="0"/>
                  </a:moveTo>
                  <a:lnTo>
                    <a:pt x="24192612" y="0"/>
                  </a:lnTo>
                  <a:lnTo>
                    <a:pt x="24192612" y="1339469"/>
                  </a:lnTo>
                  <a:lnTo>
                    <a:pt x="0" y="1339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84" r="0" b="-6181"/>
              </a:stretch>
            </a:blipFill>
          </p:spPr>
        </p:sp>
      </p:grpSp>
      <p:graphicFrame>
        <p:nvGraphicFramePr>
          <p:cNvPr name="Object 9" id="9"/>
          <p:cNvGraphicFramePr/>
          <p:nvPr/>
        </p:nvGraphicFramePr>
        <p:xfrm>
          <a:off x="1028700" y="2487869"/>
          <a:ext cx="3771900" cy="3771900"/>
        </p:xfrm>
        <a:graphic>
          <a:graphicData uri="http://schemas.openxmlformats.org/presentationml/2006/ole">
            <p:oleObj imgW="4521200" imgH="452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0" id="10"/>
          <p:cNvGraphicFramePr/>
          <p:nvPr/>
        </p:nvGraphicFramePr>
        <p:xfrm>
          <a:off x="8891442" y="2487869"/>
          <a:ext cx="3771900" cy="5657850"/>
        </p:xfrm>
        <a:graphic>
          <a:graphicData uri="http://schemas.openxmlformats.org/presentationml/2006/ole">
            <p:oleObj imgW="4902200" imgH="67818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001916" y="1911607"/>
            <a:ext cx="326648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Hardware Specifications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43935" y="1911607"/>
            <a:ext cx="3167658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Software</a:t>
            </a:r>
            <a:r>
              <a:rPr lang="en-US" b="true" sz="21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Specifications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-27774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5"/>
                </a:lnTo>
                <a:lnTo>
                  <a:pt x="0" y="13428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3511" t="-53828" r="-15513" b="-4520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70300" y="0"/>
            <a:ext cx="5217700" cy="5034001"/>
            <a:chOff x="0" y="0"/>
            <a:chExt cx="6956933" cy="6712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56933" cy="6711950"/>
            </a:xfrm>
            <a:custGeom>
              <a:avLst/>
              <a:gdLst/>
              <a:ahLst/>
              <a:cxnLst/>
              <a:rect r="r" b="b" t="t" l="l"/>
              <a:pathLst>
                <a:path h="6711950" w="6956933">
                  <a:moveTo>
                    <a:pt x="0" y="0"/>
                  </a:moveTo>
                  <a:lnTo>
                    <a:pt x="6956933" y="0"/>
                  </a:lnTo>
                  <a:lnTo>
                    <a:pt x="6956933" y="6711950"/>
                  </a:lnTo>
                  <a:lnTo>
                    <a:pt x="0" y="671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77746" y="0"/>
            <a:ext cx="11932508" cy="1489274"/>
            <a:chOff x="0" y="0"/>
            <a:chExt cx="15910011" cy="19856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10010" cy="1985698"/>
            </a:xfrm>
            <a:custGeom>
              <a:avLst/>
              <a:gdLst/>
              <a:ahLst/>
              <a:cxnLst/>
              <a:rect r="r" b="b" t="t" l="l"/>
              <a:pathLst>
                <a:path h="1985698" w="15910010">
                  <a:moveTo>
                    <a:pt x="0" y="0"/>
                  </a:moveTo>
                  <a:lnTo>
                    <a:pt x="15910010" y="0"/>
                  </a:lnTo>
                  <a:lnTo>
                    <a:pt x="15910010" y="1985698"/>
                  </a:lnTo>
                  <a:lnTo>
                    <a:pt x="0" y="19856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534" r="7327" b="-958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5910011" cy="1985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sz="5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Hardware Components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282427"/>
            <a:ext cx="18144487" cy="1004573"/>
            <a:chOff x="0" y="0"/>
            <a:chExt cx="24192649" cy="1339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92612" cy="1339469"/>
            </a:xfrm>
            <a:custGeom>
              <a:avLst/>
              <a:gdLst/>
              <a:ahLst/>
              <a:cxnLst/>
              <a:rect r="r" b="b" t="t" l="l"/>
              <a:pathLst>
                <a:path h="1339469" w="24192612">
                  <a:moveTo>
                    <a:pt x="0" y="0"/>
                  </a:moveTo>
                  <a:lnTo>
                    <a:pt x="24192612" y="0"/>
                  </a:lnTo>
                  <a:lnTo>
                    <a:pt x="24192612" y="1339469"/>
                  </a:lnTo>
                  <a:lnTo>
                    <a:pt x="0" y="1339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84" r="0" b="-618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-27774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5"/>
                </a:lnTo>
                <a:lnTo>
                  <a:pt x="0" y="1342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11" t="-53828" r="-15513" b="-4520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0867" y="1882789"/>
            <a:ext cx="2448841" cy="2448841"/>
          </a:xfrm>
          <a:custGeom>
            <a:avLst/>
            <a:gdLst/>
            <a:ahLst/>
            <a:cxnLst/>
            <a:rect r="r" b="b" t="t" l="l"/>
            <a:pathLst>
              <a:path h="2448841" w="2448841">
                <a:moveTo>
                  <a:pt x="0" y="0"/>
                </a:moveTo>
                <a:lnTo>
                  <a:pt x="2448842" y="0"/>
                </a:lnTo>
                <a:lnTo>
                  <a:pt x="2448842" y="2448841"/>
                </a:lnTo>
                <a:lnTo>
                  <a:pt x="0" y="2448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2082962" y="2482686"/>
            <a:ext cx="3632995" cy="2421589"/>
          </a:xfrm>
          <a:custGeom>
            <a:avLst/>
            <a:gdLst/>
            <a:ahLst/>
            <a:cxnLst/>
            <a:rect r="r" b="b" t="t" l="l"/>
            <a:pathLst>
              <a:path h="2421589" w="3632995">
                <a:moveTo>
                  <a:pt x="0" y="0"/>
                </a:moveTo>
                <a:lnTo>
                  <a:pt x="3632995" y="0"/>
                </a:lnTo>
                <a:lnTo>
                  <a:pt x="3632995" y="2421589"/>
                </a:lnTo>
                <a:lnTo>
                  <a:pt x="0" y="2421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3129" r="0" b="-26895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960867" y="6392445"/>
            <a:ext cx="3529313" cy="2624758"/>
          </a:xfrm>
          <a:custGeom>
            <a:avLst/>
            <a:gdLst/>
            <a:ahLst/>
            <a:cxnLst/>
            <a:rect r="r" b="b" t="t" l="l"/>
            <a:pathLst>
              <a:path h="2624758" w="3529313">
                <a:moveTo>
                  <a:pt x="3529314" y="0"/>
                </a:moveTo>
                <a:lnTo>
                  <a:pt x="0" y="0"/>
                </a:lnTo>
                <a:lnTo>
                  <a:pt x="0" y="2624757"/>
                </a:lnTo>
                <a:lnTo>
                  <a:pt x="3529314" y="2624757"/>
                </a:lnTo>
                <a:lnTo>
                  <a:pt x="3529314" y="0"/>
                </a:lnTo>
                <a:close/>
              </a:path>
            </a:pathLst>
          </a:custGeom>
          <a:blipFill>
            <a:blip r:embed="rId9"/>
            <a:stretch>
              <a:fillRect l="-8267" t="-25568" r="-7027" b="-29459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5110254" y="5924457"/>
            <a:ext cx="2768599" cy="3092746"/>
          </a:xfrm>
          <a:custGeom>
            <a:avLst/>
            <a:gdLst/>
            <a:ahLst/>
            <a:cxnLst/>
            <a:rect r="r" b="b" t="t" l="l"/>
            <a:pathLst>
              <a:path h="3092746" w="2768599">
                <a:moveTo>
                  <a:pt x="2768599" y="0"/>
                </a:moveTo>
                <a:lnTo>
                  <a:pt x="0" y="0"/>
                </a:lnTo>
                <a:lnTo>
                  <a:pt x="0" y="3092745"/>
                </a:lnTo>
                <a:lnTo>
                  <a:pt x="2768599" y="3092745"/>
                </a:lnTo>
                <a:lnTo>
                  <a:pt x="2768599" y="0"/>
                </a:lnTo>
                <a:close/>
              </a:path>
            </a:pathLst>
          </a:custGeom>
          <a:blipFill>
            <a:blip r:embed="rId10"/>
            <a:stretch>
              <a:fillRect l="-22883" t="-19056" r="-25544" b="-1381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612830" y="4722155"/>
            <a:ext cx="3810949" cy="1482739"/>
          </a:xfrm>
          <a:custGeom>
            <a:avLst/>
            <a:gdLst/>
            <a:ahLst/>
            <a:cxnLst/>
            <a:rect r="r" b="b" t="t" l="l"/>
            <a:pathLst>
              <a:path h="1482739" w="3810949">
                <a:moveTo>
                  <a:pt x="0" y="0"/>
                </a:moveTo>
                <a:lnTo>
                  <a:pt x="3810949" y="0"/>
                </a:lnTo>
                <a:lnTo>
                  <a:pt x="3810949" y="1482739"/>
                </a:lnTo>
                <a:lnTo>
                  <a:pt x="0" y="14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147" t="-87911" r="0" b="-8490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693766" y="1876983"/>
            <a:ext cx="3666568" cy="2454647"/>
          </a:xfrm>
          <a:custGeom>
            <a:avLst/>
            <a:gdLst/>
            <a:ahLst/>
            <a:cxnLst/>
            <a:rect r="r" b="b" t="t" l="l"/>
            <a:pathLst>
              <a:path h="2454647" w="3666568">
                <a:moveTo>
                  <a:pt x="0" y="0"/>
                </a:moveTo>
                <a:lnTo>
                  <a:pt x="3666568" y="0"/>
                </a:lnTo>
                <a:lnTo>
                  <a:pt x="3666568" y="2454647"/>
                </a:lnTo>
                <a:lnTo>
                  <a:pt x="0" y="24546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990" t="-22701" r="-2910" b="-966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64974" y="6392445"/>
            <a:ext cx="3174735" cy="2811083"/>
          </a:xfrm>
          <a:custGeom>
            <a:avLst/>
            <a:gdLst/>
            <a:ahLst/>
            <a:cxnLst/>
            <a:rect r="r" b="b" t="t" l="l"/>
            <a:pathLst>
              <a:path h="2811083" w="3174735">
                <a:moveTo>
                  <a:pt x="0" y="0"/>
                </a:moveTo>
                <a:lnTo>
                  <a:pt x="3174735" y="0"/>
                </a:lnTo>
                <a:lnTo>
                  <a:pt x="3174735" y="2811083"/>
                </a:lnTo>
                <a:lnTo>
                  <a:pt x="0" y="28110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617304" y="2658537"/>
            <a:ext cx="2361962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Schneider Electric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EM64xxH series meter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47965" y="4095410"/>
            <a:ext cx="155817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SD card Module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65461" y="6289443"/>
            <a:ext cx="2628305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Max485 to ttl converter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Automatic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2818" y="5558055"/>
            <a:ext cx="1652707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ESP32 Devkit v1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Microcontroller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8038" y="7352216"/>
            <a:ext cx="2628305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Max485 to ttl converter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Manual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08561" y="6156225"/>
            <a:ext cx="275332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Max485 to Usb Converter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96408" y="1467499"/>
            <a:ext cx="120610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Bread board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78298" y="-890931"/>
            <a:ext cx="5217700" cy="5034001"/>
            <a:chOff x="0" y="0"/>
            <a:chExt cx="6956933" cy="6712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56933" cy="6711950"/>
            </a:xfrm>
            <a:custGeom>
              <a:avLst/>
              <a:gdLst/>
              <a:ahLst/>
              <a:cxnLst/>
              <a:rect r="r" b="b" t="t" l="l"/>
              <a:pathLst>
                <a:path h="6711950" w="6956933">
                  <a:moveTo>
                    <a:pt x="0" y="0"/>
                  </a:moveTo>
                  <a:lnTo>
                    <a:pt x="6956933" y="0"/>
                  </a:lnTo>
                  <a:lnTo>
                    <a:pt x="6956933" y="6711950"/>
                  </a:lnTo>
                  <a:lnTo>
                    <a:pt x="0" y="671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77746" y="-291406"/>
            <a:ext cx="11932508" cy="1489274"/>
            <a:chOff x="0" y="0"/>
            <a:chExt cx="15910011" cy="19856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10010" cy="1985698"/>
            </a:xfrm>
            <a:custGeom>
              <a:avLst/>
              <a:gdLst/>
              <a:ahLst/>
              <a:cxnLst/>
              <a:rect r="r" b="b" t="t" l="l"/>
              <a:pathLst>
                <a:path h="1985698" w="15910010">
                  <a:moveTo>
                    <a:pt x="0" y="0"/>
                  </a:moveTo>
                  <a:lnTo>
                    <a:pt x="15910010" y="0"/>
                  </a:lnTo>
                  <a:lnTo>
                    <a:pt x="15910010" y="1985698"/>
                  </a:lnTo>
                  <a:lnTo>
                    <a:pt x="0" y="19856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534" r="7327" b="-958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5910011" cy="1985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sz="5600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Software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282427"/>
            <a:ext cx="18144487" cy="1004573"/>
            <a:chOff x="0" y="0"/>
            <a:chExt cx="24192649" cy="1339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92612" cy="1339469"/>
            </a:xfrm>
            <a:custGeom>
              <a:avLst/>
              <a:gdLst/>
              <a:ahLst/>
              <a:cxnLst/>
              <a:rect r="r" b="b" t="t" l="l"/>
              <a:pathLst>
                <a:path h="1339469" w="24192612">
                  <a:moveTo>
                    <a:pt x="0" y="0"/>
                  </a:moveTo>
                  <a:lnTo>
                    <a:pt x="24192612" y="0"/>
                  </a:lnTo>
                  <a:lnTo>
                    <a:pt x="24192612" y="1339469"/>
                  </a:lnTo>
                  <a:lnTo>
                    <a:pt x="0" y="1339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84" r="0" b="-618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-27774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5"/>
                </a:lnTo>
                <a:lnTo>
                  <a:pt x="0" y="1342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11" t="-53828" r="-15513" b="-4520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9018" y="5304865"/>
            <a:ext cx="5625109" cy="3454512"/>
          </a:xfrm>
          <a:custGeom>
            <a:avLst/>
            <a:gdLst/>
            <a:ahLst/>
            <a:cxnLst/>
            <a:rect r="r" b="b" t="t" l="l"/>
            <a:pathLst>
              <a:path h="3454512" w="5625109">
                <a:moveTo>
                  <a:pt x="0" y="0"/>
                </a:moveTo>
                <a:lnTo>
                  <a:pt x="5625109" y="0"/>
                </a:lnTo>
                <a:lnTo>
                  <a:pt x="5625109" y="3454512"/>
                </a:lnTo>
                <a:lnTo>
                  <a:pt x="0" y="34545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50052" y="5304865"/>
            <a:ext cx="5638930" cy="3454512"/>
          </a:xfrm>
          <a:custGeom>
            <a:avLst/>
            <a:gdLst/>
            <a:ahLst/>
            <a:cxnLst/>
            <a:rect r="r" b="b" t="t" l="l"/>
            <a:pathLst>
              <a:path h="3454512" w="5638930">
                <a:moveTo>
                  <a:pt x="0" y="0"/>
                </a:moveTo>
                <a:lnTo>
                  <a:pt x="5638930" y="0"/>
                </a:lnTo>
                <a:lnTo>
                  <a:pt x="5638930" y="3454512"/>
                </a:lnTo>
                <a:lnTo>
                  <a:pt x="0" y="34545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51815" y="5322570"/>
            <a:ext cx="5584370" cy="3436807"/>
          </a:xfrm>
          <a:custGeom>
            <a:avLst/>
            <a:gdLst/>
            <a:ahLst/>
            <a:cxnLst/>
            <a:rect r="r" b="b" t="t" l="l"/>
            <a:pathLst>
              <a:path h="3436807" w="5584370">
                <a:moveTo>
                  <a:pt x="0" y="0"/>
                </a:moveTo>
                <a:lnTo>
                  <a:pt x="5584370" y="0"/>
                </a:lnTo>
                <a:lnTo>
                  <a:pt x="5584370" y="3436807"/>
                </a:lnTo>
                <a:lnTo>
                  <a:pt x="0" y="34368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69528" y="5033403"/>
            <a:ext cx="196905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Analytics page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418001" y="1484239"/>
            <a:ext cx="5616745" cy="3454512"/>
          </a:xfrm>
          <a:custGeom>
            <a:avLst/>
            <a:gdLst/>
            <a:ahLst/>
            <a:cxnLst/>
            <a:rect r="r" b="b" t="t" l="l"/>
            <a:pathLst>
              <a:path h="3454512" w="5616745">
                <a:moveTo>
                  <a:pt x="0" y="0"/>
                </a:moveTo>
                <a:lnTo>
                  <a:pt x="5616745" y="0"/>
                </a:lnTo>
                <a:lnTo>
                  <a:pt x="5616745" y="3454512"/>
                </a:lnTo>
                <a:lnTo>
                  <a:pt x="0" y="34545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360" t="0" r="-136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89436" y="1150243"/>
            <a:ext cx="1473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Dashboard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63019" y="5095875"/>
            <a:ext cx="30129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Historical Data Access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68155" y="5078170"/>
            <a:ext cx="160817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AI Assistant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297791" y="1484239"/>
            <a:ext cx="5572208" cy="3454512"/>
          </a:xfrm>
          <a:custGeom>
            <a:avLst/>
            <a:gdLst/>
            <a:ahLst/>
            <a:cxnLst/>
            <a:rect r="r" b="b" t="t" l="l"/>
            <a:pathLst>
              <a:path h="3454512" w="5572208">
                <a:moveTo>
                  <a:pt x="0" y="0"/>
                </a:moveTo>
                <a:lnTo>
                  <a:pt x="5572208" y="0"/>
                </a:lnTo>
                <a:lnTo>
                  <a:pt x="5572208" y="3454512"/>
                </a:lnTo>
                <a:lnTo>
                  <a:pt x="0" y="34545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1110" t="-181" r="0" b="-181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893912" y="1150243"/>
            <a:ext cx="222301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Meter Overview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33651" y="4185899"/>
            <a:ext cx="11233804" cy="1915201"/>
            <a:chOff x="0" y="0"/>
            <a:chExt cx="14978405" cy="2553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78400" cy="2553600"/>
            </a:xfrm>
            <a:custGeom>
              <a:avLst/>
              <a:gdLst/>
              <a:ahLst/>
              <a:cxnLst/>
              <a:rect r="r" b="b" t="t" l="l"/>
              <a:pathLst>
                <a:path h="2553600" w="14978400">
                  <a:moveTo>
                    <a:pt x="0" y="0"/>
                  </a:moveTo>
                  <a:lnTo>
                    <a:pt x="14978400" y="0"/>
                  </a:lnTo>
                  <a:lnTo>
                    <a:pt x="14978400" y="2553600"/>
                  </a:lnTo>
                  <a:lnTo>
                    <a:pt x="0" y="255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291" r="0" b="-6429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978405" cy="2553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b="true" sz="72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Thank You!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58300"/>
            <a:ext cx="16159193" cy="1005840"/>
            <a:chOff x="0" y="0"/>
            <a:chExt cx="21545591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45628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545628">
                  <a:moveTo>
                    <a:pt x="0" y="0"/>
                  </a:moveTo>
                  <a:lnTo>
                    <a:pt x="21545628" y="0"/>
                  </a:lnTo>
                  <a:lnTo>
                    <a:pt x="21545628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t="0" r="-2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11198" y="0"/>
            <a:ext cx="3676802" cy="10287000"/>
            <a:chOff x="0" y="0"/>
            <a:chExt cx="4902403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0245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902454">
                  <a:moveTo>
                    <a:pt x="0" y="0"/>
                  </a:moveTo>
                  <a:lnTo>
                    <a:pt x="4902454" y="0"/>
                  </a:lnTo>
                  <a:lnTo>
                    <a:pt x="490245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0" y="41969"/>
            <a:ext cx="3192267" cy="1342845"/>
          </a:xfrm>
          <a:custGeom>
            <a:avLst/>
            <a:gdLst/>
            <a:ahLst/>
            <a:cxnLst/>
            <a:rect r="r" b="b" t="t" l="l"/>
            <a:pathLst>
              <a:path h="1342845" w="3192267">
                <a:moveTo>
                  <a:pt x="0" y="0"/>
                </a:moveTo>
                <a:lnTo>
                  <a:pt x="3192267" y="0"/>
                </a:lnTo>
                <a:lnTo>
                  <a:pt x="3192267" y="1342846"/>
                </a:lnTo>
                <a:lnTo>
                  <a:pt x="0" y="13428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11" t="-53828" r="-15513" b="-45207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DAHSX1O1u-c</dc:identifier>
  <dcterms:modified xsi:type="dcterms:W3CDTF">2011-08-01T06:04:30Z</dcterms:modified>
  <cp:revision>1</cp:revision>
  <dc:title>SEMINAR PPT FORMAT (1).pptx</dc:title>
</cp:coreProperties>
</file>